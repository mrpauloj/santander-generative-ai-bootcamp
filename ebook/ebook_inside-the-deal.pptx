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8" r:id="rId5"/>
    <p:sldId id="262" r:id="rId6"/>
    <p:sldId id="269" r:id="rId7"/>
    <p:sldId id="263" r:id="rId8"/>
    <p:sldId id="270" r:id="rId9"/>
    <p:sldId id="264" r:id="rId10"/>
    <p:sldId id="272" r:id="rId11"/>
    <p:sldId id="265" r:id="rId12"/>
    <p:sldId id="271" r:id="rId13"/>
    <p:sldId id="266" r:id="rId14"/>
    <p:sldId id="273" r:id="rId15"/>
    <p:sldId id="259" r:id="rId16"/>
    <p:sldId id="267" r:id="rId1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4334"/>
    <a:srgbClr val="EED6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2664" y="53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1782-918F-4EC8-852D-859FC557DB6E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90A17-4660-4B0E-8AAC-DB57602EFB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9850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1782-918F-4EC8-852D-859FC557DB6E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90A17-4660-4B0E-8AAC-DB57602EFB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84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1782-918F-4EC8-852D-859FC557DB6E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90A17-4660-4B0E-8AAC-DB57602EFB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9114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1782-918F-4EC8-852D-859FC557DB6E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90A17-4660-4B0E-8AAC-DB57602EFB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0113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1782-918F-4EC8-852D-859FC557DB6E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90A17-4660-4B0E-8AAC-DB57602EFB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5890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1782-918F-4EC8-852D-859FC557DB6E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90A17-4660-4B0E-8AAC-DB57602EFB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460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1782-918F-4EC8-852D-859FC557DB6E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90A17-4660-4B0E-8AAC-DB57602EFB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328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1782-918F-4EC8-852D-859FC557DB6E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90A17-4660-4B0E-8AAC-DB57602EFB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532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1782-918F-4EC8-852D-859FC557DB6E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90A17-4660-4B0E-8AAC-DB57602EFB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6364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1782-918F-4EC8-852D-859FC557DB6E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90A17-4660-4B0E-8AAC-DB57602EFB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9071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1782-918F-4EC8-852D-859FC557DB6E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90A17-4660-4B0E-8AAC-DB57602EFB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529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81782-918F-4EC8-852D-859FC557DB6E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90A17-4660-4B0E-8AAC-DB57602EFB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2414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rPauloJ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886BFAC-812B-6EAB-A79F-1653C7C41DD1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EED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0802F99E-5DC4-3378-CAE4-DE29790D0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0"/>
            <a:ext cx="6604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393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D4DDB-724A-C243-9441-A986298A9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0D3BC864-06DC-A795-DAD3-ACBE930AE863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EED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07B249D-8699-11C2-D276-4E1901A212E5}"/>
              </a:ext>
            </a:extLst>
          </p:cNvPr>
          <p:cNvSpPr txBox="1"/>
          <p:nvPr/>
        </p:nvSpPr>
        <p:spPr>
          <a:xfrm>
            <a:off x="317090" y="2841682"/>
            <a:ext cx="62238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b="1" dirty="0"/>
              <a:t>O QUE REALMENTE É INVESTMENT BANKING?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DCC3527-CD0F-C851-B90A-07D3FBC93A89}"/>
              </a:ext>
            </a:extLst>
          </p:cNvPr>
          <p:cNvSpPr/>
          <p:nvPr/>
        </p:nvSpPr>
        <p:spPr>
          <a:xfrm>
            <a:off x="4085984" y="514425"/>
            <a:ext cx="2457724" cy="2646878"/>
          </a:xfrm>
          <a:prstGeom prst="rect">
            <a:avLst/>
          </a:prstGeom>
          <a:solidFill>
            <a:srgbClr val="1B4334"/>
          </a:solidFill>
          <a:ln>
            <a:solidFill>
              <a:srgbClr val="1B4334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6600" b="1" cap="none" spc="0" dirty="0">
                <a:ln w="10160">
                  <a:solidFill>
                    <a:srgbClr val="EED6B0"/>
                  </a:solidFill>
                  <a:prstDash val="solid"/>
                </a:ln>
                <a:solidFill>
                  <a:srgbClr val="EED6B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77757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AFC11-6DA9-9234-7065-CC8A0140D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F4BFC5B2-11F7-58A1-8A76-F8110A8BBFEB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EED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itulo">
            <a:extLst>
              <a:ext uri="{FF2B5EF4-FFF2-40B4-BE49-F238E27FC236}">
                <a16:creationId xmlns:a16="http://schemas.microsoft.com/office/drawing/2014/main" id="{BC028C82-2C0B-849E-B68B-DFA3972D1D1D}"/>
              </a:ext>
            </a:extLst>
          </p:cNvPr>
          <p:cNvSpPr txBox="1"/>
          <p:nvPr/>
        </p:nvSpPr>
        <p:spPr>
          <a:xfrm>
            <a:off x="563879" y="320040"/>
            <a:ext cx="5737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B4334"/>
                </a:solidFill>
              </a:rPr>
              <a:t>O QUE É REALMENTE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283ADB50-1096-9F05-0FA8-0F367F1D762B}"/>
              </a:ext>
            </a:extLst>
          </p:cNvPr>
          <p:cNvSpPr txBox="1"/>
          <p:nvPr/>
        </p:nvSpPr>
        <p:spPr>
          <a:xfrm>
            <a:off x="563879" y="844539"/>
            <a:ext cx="5737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err="1">
                <a:solidFill>
                  <a:srgbClr val="1B4334"/>
                </a:solidFill>
                <a:ea typeface="Verdana" panose="020B0604030504040204" pitchFamily="34" charset="0"/>
                <a:cs typeface="Sans Serif Collection" panose="020B0502040504020204" pitchFamily="34" charset="0"/>
              </a:rPr>
              <a:t>Investment</a:t>
            </a:r>
            <a:r>
              <a:rPr lang="pt-BR" sz="3200" dirty="0">
                <a:solidFill>
                  <a:srgbClr val="1B4334"/>
                </a:solidFill>
                <a:ea typeface="Verdana" panose="020B0604030504040204" pitchFamily="34" charset="0"/>
                <a:cs typeface="Sans Serif Collection" panose="020B0502040504020204" pitchFamily="34" charset="0"/>
              </a:rPr>
              <a:t> banking?</a:t>
            </a:r>
          </a:p>
        </p:txBody>
      </p:sp>
      <p:sp>
        <p:nvSpPr>
          <p:cNvPr id="4" name="texto">
            <a:extLst>
              <a:ext uri="{FF2B5EF4-FFF2-40B4-BE49-F238E27FC236}">
                <a16:creationId xmlns:a16="http://schemas.microsoft.com/office/drawing/2014/main" id="{70A2DD98-B8B6-58AC-1E0F-7B5FF40A5DA4}"/>
              </a:ext>
            </a:extLst>
          </p:cNvPr>
          <p:cNvSpPr txBox="1"/>
          <p:nvPr/>
        </p:nvSpPr>
        <p:spPr>
          <a:xfrm>
            <a:off x="560070" y="1735812"/>
            <a:ext cx="5737859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	</a:t>
            </a:r>
            <a:r>
              <a:rPr lang="pt-BR" dirty="0" err="1"/>
              <a:t>Investment</a:t>
            </a:r>
            <a:r>
              <a:rPr lang="pt-BR" dirty="0"/>
              <a:t> banking (IB) é, em essência, o setor que conecta empresas, investidores e governos a oportunidades estratégicas de capital. Diferente do banco que conhecemos no dia a dia, que lida com contas correntes, cartões e financiamentos, o banco de investimento atua como arquiteto de operações que podem redefinir setores inteiros.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Um bom exemplo é pensar nele como uma ponte. De um lado, há empresas que precisam de capital para crescer ou se reestruturar; do outro, investidores em busca de retorno. O </a:t>
            </a:r>
            <a:r>
              <a:rPr lang="pt-BR" dirty="0" err="1"/>
              <a:t>investment</a:t>
            </a:r>
            <a:r>
              <a:rPr lang="pt-BR" dirty="0"/>
              <a:t> banking constrói essa ponte com técnicas financeiras, modelagens sofisticadas e relacionamentos globais.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No Brasil, podemos citar o caso do Nubank, que em 2021 realizou um dos maiores </a:t>
            </a:r>
            <a:r>
              <a:rPr lang="pt-BR" dirty="0" err="1"/>
              <a:t>IPOs</a:t>
            </a:r>
            <a:r>
              <a:rPr lang="pt-BR" dirty="0"/>
              <a:t> de uma empresa brasileira na Bolsa de Nova York. O papel do banco de investimento foi crucial: estruturar a operação, definir o preço das ações e conectar a fintech a investidores de peso internacional. Esse processo não apenas captou bilhões de dólares, mas também consolidou o Nubank como protagonista do setor bancário digital.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Por isso, o </a:t>
            </a:r>
            <a:r>
              <a:rPr lang="pt-BR" dirty="0" err="1"/>
              <a:t>investment</a:t>
            </a:r>
            <a:r>
              <a:rPr lang="pt-BR" dirty="0"/>
              <a:t> banking é visto como a engrenagem invisível que mantém a máquina do mercado em movimento, tornando possível que empresas locais se tornem players globais.</a:t>
            </a:r>
          </a:p>
        </p:txBody>
      </p:sp>
    </p:spTree>
    <p:extLst>
      <p:ext uri="{BB962C8B-B14F-4D97-AF65-F5344CB8AC3E}">
        <p14:creationId xmlns:p14="http://schemas.microsoft.com/office/powerpoint/2010/main" val="2544749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B8668-7329-AAA1-0534-AABFAAB34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E058166F-FD28-92E4-8D7D-5A163DF2A4FF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EED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65AE449-8578-27FF-77C7-DE9B07E7D175}"/>
              </a:ext>
            </a:extLst>
          </p:cNvPr>
          <p:cNvSpPr txBox="1"/>
          <p:nvPr/>
        </p:nvSpPr>
        <p:spPr>
          <a:xfrm>
            <a:off x="317090" y="2841682"/>
            <a:ext cx="62238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7200" b="1" dirty="0"/>
          </a:p>
          <a:p>
            <a:r>
              <a:rPr lang="pt-BR" sz="7200" b="1" dirty="0"/>
              <a:t>FUSÕES E AQUISIÇÕES MUDAM O JOGO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D3CBB7C-61E2-65F9-1380-99EC66343820}"/>
              </a:ext>
            </a:extLst>
          </p:cNvPr>
          <p:cNvSpPr/>
          <p:nvPr/>
        </p:nvSpPr>
        <p:spPr>
          <a:xfrm>
            <a:off x="317090" y="514425"/>
            <a:ext cx="2457724" cy="2646878"/>
          </a:xfrm>
          <a:prstGeom prst="rect">
            <a:avLst/>
          </a:prstGeom>
          <a:solidFill>
            <a:srgbClr val="1B4334"/>
          </a:solidFill>
          <a:ln>
            <a:solidFill>
              <a:srgbClr val="1B4334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6600" b="1" cap="none" spc="0" dirty="0">
                <a:ln w="10160">
                  <a:solidFill>
                    <a:srgbClr val="EED6B0"/>
                  </a:solidFill>
                  <a:prstDash val="solid"/>
                </a:ln>
                <a:solidFill>
                  <a:srgbClr val="EED6B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611763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BF2AC-4B1C-D414-4CE8-159C500F7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872E854-1643-B958-D23E-3637D5726779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EED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itulo">
            <a:extLst>
              <a:ext uri="{FF2B5EF4-FFF2-40B4-BE49-F238E27FC236}">
                <a16:creationId xmlns:a16="http://schemas.microsoft.com/office/drawing/2014/main" id="{EE90029D-D7F7-CD2D-4EFC-1E62F5A2F8CC}"/>
              </a:ext>
            </a:extLst>
          </p:cNvPr>
          <p:cNvSpPr txBox="1"/>
          <p:nvPr/>
        </p:nvSpPr>
        <p:spPr>
          <a:xfrm>
            <a:off x="563879" y="320040"/>
            <a:ext cx="5737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B4334"/>
                </a:solidFill>
              </a:rPr>
              <a:t>O PODER DE M&amp;A: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BFE67349-43F4-8C9E-DD19-2F7AFE09172B}"/>
              </a:ext>
            </a:extLst>
          </p:cNvPr>
          <p:cNvSpPr txBox="1"/>
          <p:nvPr/>
        </p:nvSpPr>
        <p:spPr>
          <a:xfrm>
            <a:off x="563879" y="844539"/>
            <a:ext cx="5737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1B4334"/>
                </a:solidFill>
              </a:rPr>
              <a:t>Eles Mudam o Jogo</a:t>
            </a:r>
            <a:endParaRPr lang="pt-BR" sz="3200" b="1" dirty="0">
              <a:solidFill>
                <a:srgbClr val="1B4334"/>
              </a:solidFill>
              <a:ea typeface="Verdana" panose="020B060403050404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texto">
            <a:extLst>
              <a:ext uri="{FF2B5EF4-FFF2-40B4-BE49-F238E27FC236}">
                <a16:creationId xmlns:a16="http://schemas.microsoft.com/office/drawing/2014/main" id="{E424BD2D-26C6-F34C-A1F7-EC341976B1E0}"/>
              </a:ext>
            </a:extLst>
          </p:cNvPr>
          <p:cNvSpPr txBox="1"/>
          <p:nvPr/>
        </p:nvSpPr>
        <p:spPr>
          <a:xfrm>
            <a:off x="560070" y="1735812"/>
            <a:ext cx="5737859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	Fusões e aquisições (M&amp;A), são operações de transformação. Quando uma empresa decide comprar outra, não é apenas sobre crescimento, mas sobre estratégia, escala e, muitas vezes, sobrevivência.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A compra da </a:t>
            </a:r>
            <a:r>
              <a:rPr lang="pt-BR" dirty="0" err="1"/>
              <a:t>Anheuser</a:t>
            </a:r>
            <a:r>
              <a:rPr lang="pt-BR" dirty="0"/>
              <a:t>-Busch pela Ambev, em 2008, ilustra bem. Essa operação criou a AB InBev, maior cervejaria do mundo. Atrás dos holofotes, banqueiros de investimento avaliaram o valor da companhia-alvo, projetaram sinergias (como redução de custos e aumento de participação de mercado) e desenharam o modelo financeiro que tornaria viável o negócio.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Outro exemplo marcante é a aquisição da WhatsApp pelo Facebook, em 2014, por US$ 19 bilhões. Muitos questionaram o preço na época, mas anos depois ficou claro: a aquisição consolidou o domínio do grupo Meta em aplicativos de comunicação, reforçando sua base de usuários e garantindo novos fluxos de dados e receitas.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Nos bastidores de operações assim, cada detalhe conta. Um </a:t>
            </a:r>
            <a:r>
              <a:rPr lang="pt-BR" dirty="0" err="1"/>
              <a:t>valuation</a:t>
            </a:r>
            <a:r>
              <a:rPr lang="pt-BR" dirty="0"/>
              <a:t> superestimado pode destruir valor. Uma integração mal conduzida pode fazer uma fusão promissora se tornar um fracasso. É por isso que o M&amp;A exige banqueiros que unam técnica, estratégia e, sobretudo, capacidade de negociação.</a:t>
            </a:r>
          </a:p>
        </p:txBody>
      </p:sp>
    </p:spTree>
    <p:extLst>
      <p:ext uri="{BB962C8B-B14F-4D97-AF65-F5344CB8AC3E}">
        <p14:creationId xmlns:p14="http://schemas.microsoft.com/office/powerpoint/2010/main" val="374585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FAB7A-8158-A8C0-419B-525BF9467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99F27B72-2504-31DC-9924-B86FD39234C4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EED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9336D9E-0946-ED11-9505-C38FC3C39FBE}"/>
              </a:ext>
            </a:extLst>
          </p:cNvPr>
          <p:cNvSpPr txBox="1"/>
          <p:nvPr/>
        </p:nvSpPr>
        <p:spPr>
          <a:xfrm>
            <a:off x="317090" y="2841682"/>
            <a:ext cx="62238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b="1" dirty="0"/>
              <a:t>ECM</a:t>
            </a:r>
          </a:p>
          <a:p>
            <a:r>
              <a:rPr lang="pt-BR" sz="7200" b="1" dirty="0"/>
              <a:t>&amp; DCM:</a:t>
            </a:r>
          </a:p>
          <a:p>
            <a:r>
              <a:rPr lang="pt-BR" sz="7200" b="1" dirty="0"/>
              <a:t>CAPITAÇÃO DE RECURSO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799E224-F374-6C01-8F17-F8EA4156D0A2}"/>
              </a:ext>
            </a:extLst>
          </p:cNvPr>
          <p:cNvSpPr/>
          <p:nvPr/>
        </p:nvSpPr>
        <p:spPr>
          <a:xfrm>
            <a:off x="4085984" y="514425"/>
            <a:ext cx="2457724" cy="2646878"/>
          </a:xfrm>
          <a:prstGeom prst="rect">
            <a:avLst/>
          </a:prstGeom>
          <a:solidFill>
            <a:srgbClr val="1B4334"/>
          </a:solidFill>
          <a:ln>
            <a:solidFill>
              <a:srgbClr val="1B4334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6600" b="1" cap="none" spc="0" dirty="0">
                <a:ln w="10160">
                  <a:solidFill>
                    <a:srgbClr val="EED6B0"/>
                  </a:solidFill>
                  <a:prstDash val="solid"/>
                </a:ln>
                <a:solidFill>
                  <a:srgbClr val="EED6B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1507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FB7D-B122-D198-BB58-77ECE121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E73360DE-F9FC-4CC0-2766-7FA60FDF24EB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EED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itulo">
            <a:extLst>
              <a:ext uri="{FF2B5EF4-FFF2-40B4-BE49-F238E27FC236}">
                <a16:creationId xmlns:a16="http://schemas.microsoft.com/office/drawing/2014/main" id="{AF6D3BA5-30FA-527B-310A-56DA15D9E4CF}"/>
              </a:ext>
            </a:extLst>
          </p:cNvPr>
          <p:cNvSpPr txBox="1"/>
          <p:nvPr/>
        </p:nvSpPr>
        <p:spPr>
          <a:xfrm>
            <a:off x="563879" y="320040"/>
            <a:ext cx="5737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B4334"/>
                </a:solidFill>
              </a:rPr>
              <a:t>ECM &amp; DCM: As Duas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EC2E23D7-D21D-B5D9-41BD-1BF23BC900CC}"/>
              </a:ext>
            </a:extLst>
          </p:cNvPr>
          <p:cNvSpPr txBox="1"/>
          <p:nvPr/>
        </p:nvSpPr>
        <p:spPr>
          <a:xfrm>
            <a:off x="563879" y="844539"/>
            <a:ext cx="5737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1B4334"/>
                </a:solidFill>
              </a:rPr>
              <a:t>Rodas Para Captar Recursos</a:t>
            </a:r>
            <a:endParaRPr lang="pt-BR" sz="3200" b="1" dirty="0">
              <a:solidFill>
                <a:srgbClr val="1B4334"/>
              </a:solidFill>
              <a:ea typeface="Verdana" panose="020B060403050404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texto">
            <a:extLst>
              <a:ext uri="{FF2B5EF4-FFF2-40B4-BE49-F238E27FC236}">
                <a16:creationId xmlns:a16="http://schemas.microsoft.com/office/drawing/2014/main" id="{526DF829-BFB3-06A1-9787-46A61EB857A2}"/>
              </a:ext>
            </a:extLst>
          </p:cNvPr>
          <p:cNvSpPr txBox="1"/>
          <p:nvPr/>
        </p:nvSpPr>
        <p:spPr>
          <a:xfrm>
            <a:off x="560070" y="1735812"/>
            <a:ext cx="5737859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	Crescer exige capital. E no </a:t>
            </a:r>
            <a:r>
              <a:rPr lang="pt-BR" dirty="0" err="1"/>
              <a:t>investment</a:t>
            </a:r>
            <a:r>
              <a:rPr lang="pt-BR" dirty="0"/>
              <a:t> banking, esse capital pode vir de duas fontes principais: </a:t>
            </a:r>
            <a:r>
              <a:rPr lang="pt-BR" b="1" dirty="0" err="1"/>
              <a:t>Equity</a:t>
            </a:r>
            <a:r>
              <a:rPr lang="pt-BR" b="1" dirty="0"/>
              <a:t> Capital </a:t>
            </a:r>
            <a:r>
              <a:rPr lang="pt-BR" b="1" dirty="0" err="1"/>
              <a:t>Markets</a:t>
            </a:r>
            <a:r>
              <a:rPr lang="pt-BR" b="1" dirty="0"/>
              <a:t> (ECM)</a:t>
            </a:r>
            <a:r>
              <a:rPr lang="pt-BR" dirty="0"/>
              <a:t>, com emissão de ações, e </a:t>
            </a:r>
            <a:r>
              <a:rPr lang="pt-BR" b="1" dirty="0" err="1"/>
              <a:t>Debt</a:t>
            </a:r>
            <a:r>
              <a:rPr lang="pt-BR" b="1" dirty="0"/>
              <a:t> Capital </a:t>
            </a:r>
            <a:r>
              <a:rPr lang="pt-BR" b="1" dirty="0" err="1"/>
              <a:t>Markets</a:t>
            </a:r>
            <a:r>
              <a:rPr lang="pt-BR" b="1" dirty="0"/>
              <a:t> (DCM)</a:t>
            </a:r>
            <a:r>
              <a:rPr lang="pt-BR" dirty="0"/>
              <a:t>, com emissão de dívidas.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No ECM, empresas vendem participações a investidores. É o caso dos </a:t>
            </a:r>
            <a:r>
              <a:rPr lang="pt-BR" dirty="0" err="1"/>
              <a:t>IPOs</a:t>
            </a:r>
            <a:r>
              <a:rPr lang="pt-BR" dirty="0"/>
              <a:t>, que além de levantar recursos, dão visibilidade e credibilidade. A XP Inc., ao abrir capital em 2019 na Nasdaq, não apenas captou bilhões, mas também ganhou reconhecimento internacional, atraindo novos clientes e consolidando sua marca como player global.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Já no DCM, a empresa emite títulos de dívida para captar recursos de forma rápida e menos </a:t>
            </a:r>
            <a:r>
              <a:rPr lang="pt-BR" dirty="0" err="1"/>
              <a:t>dilutiva</a:t>
            </a:r>
            <a:r>
              <a:rPr lang="pt-BR" dirty="0"/>
              <a:t>. A Petrobras, por exemplo, recorre constantemente a esse mercado para financiar sua carteira de projetos. O banco de investimento, nesse caso, ajuda a calcular prazo, taxa de juros e atratividade da emissão.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Cada mercado reflete o momento da economia: em épocas de otimismo, </a:t>
            </a:r>
            <a:r>
              <a:rPr lang="pt-BR" dirty="0" err="1"/>
              <a:t>IPOs</a:t>
            </a:r>
            <a:r>
              <a:rPr lang="pt-BR" dirty="0"/>
              <a:t> se multiplicam; em cenários de juros baixos, empresas preferem se financiar via dívida. Em ambos, os bancos de investimento funcionam como bússolas que guiam empresas nas condições mais adequadas para crescer.</a:t>
            </a:r>
          </a:p>
        </p:txBody>
      </p:sp>
    </p:spTree>
    <p:extLst>
      <p:ext uri="{BB962C8B-B14F-4D97-AF65-F5344CB8AC3E}">
        <p14:creationId xmlns:p14="http://schemas.microsoft.com/office/powerpoint/2010/main" val="1270192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16244-92A1-48BD-9C36-D5DB60703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F8ECA20D-C44F-0B2D-AB62-320D9F91CD9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EED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0614497-A96F-2F29-0BD7-05BB36E9A3E8}"/>
              </a:ext>
            </a:extLst>
          </p:cNvPr>
          <p:cNvSpPr txBox="1"/>
          <p:nvPr/>
        </p:nvSpPr>
        <p:spPr>
          <a:xfrm>
            <a:off x="317090" y="2841682"/>
            <a:ext cx="62238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7200" b="1" dirty="0"/>
          </a:p>
          <a:p>
            <a:r>
              <a:rPr lang="pt-BR" sz="7200" b="1" dirty="0"/>
              <a:t>POR DENTRO DO DIA-A-DIA</a:t>
            </a:r>
          </a:p>
          <a:p>
            <a:r>
              <a:rPr lang="pt-BR" sz="7200" b="1" dirty="0"/>
              <a:t>NO MERCADO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C977F10-7065-A9A2-1FD2-5BDDCCD3B2EE}"/>
              </a:ext>
            </a:extLst>
          </p:cNvPr>
          <p:cNvSpPr/>
          <p:nvPr/>
        </p:nvSpPr>
        <p:spPr>
          <a:xfrm>
            <a:off x="317090" y="514425"/>
            <a:ext cx="2457724" cy="2646878"/>
          </a:xfrm>
          <a:prstGeom prst="rect">
            <a:avLst/>
          </a:prstGeom>
          <a:solidFill>
            <a:srgbClr val="1B4334"/>
          </a:solidFill>
          <a:ln>
            <a:solidFill>
              <a:srgbClr val="1B4334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6600" b="1" cap="none" spc="0" dirty="0">
                <a:ln w="10160">
                  <a:solidFill>
                    <a:srgbClr val="EED6B0"/>
                  </a:solidFill>
                  <a:prstDash val="solid"/>
                </a:ln>
                <a:solidFill>
                  <a:srgbClr val="EED6B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3075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74F1B-78DC-0785-DFD6-3CDEC12CB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A9AFEF84-82AE-CAD9-B03B-7FF79BAEB9AB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EED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itulo">
            <a:extLst>
              <a:ext uri="{FF2B5EF4-FFF2-40B4-BE49-F238E27FC236}">
                <a16:creationId xmlns:a16="http://schemas.microsoft.com/office/drawing/2014/main" id="{C547FE56-F90C-0F63-CDD6-A73CAE67864F}"/>
              </a:ext>
            </a:extLst>
          </p:cNvPr>
          <p:cNvSpPr txBox="1"/>
          <p:nvPr/>
        </p:nvSpPr>
        <p:spPr>
          <a:xfrm>
            <a:off x="563879" y="320040"/>
            <a:ext cx="5737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B4334"/>
                </a:solidFill>
              </a:rPr>
              <a:t>A VIDA DENTRO DO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8AC3C7EE-5E70-A3EB-3AA5-284839D877BD}"/>
              </a:ext>
            </a:extLst>
          </p:cNvPr>
          <p:cNvSpPr txBox="1"/>
          <p:nvPr/>
        </p:nvSpPr>
        <p:spPr>
          <a:xfrm>
            <a:off x="563879" y="844539"/>
            <a:ext cx="5737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err="1">
                <a:solidFill>
                  <a:srgbClr val="1B4334"/>
                </a:solidFill>
              </a:rPr>
              <a:t>Investment</a:t>
            </a:r>
            <a:r>
              <a:rPr lang="pt-BR" sz="3200" dirty="0">
                <a:solidFill>
                  <a:srgbClr val="1B4334"/>
                </a:solidFill>
              </a:rPr>
              <a:t> Banking</a:t>
            </a:r>
            <a:endParaRPr lang="pt-BR" sz="3200" b="1" dirty="0">
              <a:solidFill>
                <a:srgbClr val="1B4334"/>
              </a:solidFill>
              <a:ea typeface="Verdana" panose="020B060403050404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texto">
            <a:extLst>
              <a:ext uri="{FF2B5EF4-FFF2-40B4-BE49-F238E27FC236}">
                <a16:creationId xmlns:a16="http://schemas.microsoft.com/office/drawing/2014/main" id="{9E245E1E-FA6F-74B0-9A4C-7FE57CB6DE08}"/>
              </a:ext>
            </a:extLst>
          </p:cNvPr>
          <p:cNvSpPr txBox="1"/>
          <p:nvPr/>
        </p:nvSpPr>
        <p:spPr>
          <a:xfrm>
            <a:off x="560070" y="1735812"/>
            <a:ext cx="5737859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	O imaginário popular sobre a vida em </a:t>
            </a:r>
            <a:r>
              <a:rPr lang="pt-BR" dirty="0" err="1"/>
              <a:t>investment</a:t>
            </a:r>
            <a:r>
              <a:rPr lang="pt-BR" dirty="0"/>
              <a:t> banking mistura glamour e intensidade — e, em certa medida, isso é verdade. O ritmo é acelerado, as responsabilidades são grandes e a pressão é constante.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O dia de um analista pode começar revisando relatórios de </a:t>
            </a:r>
            <a:r>
              <a:rPr lang="pt-BR" dirty="0" err="1"/>
              <a:t>valuation</a:t>
            </a:r>
            <a:r>
              <a:rPr lang="pt-BR" dirty="0"/>
              <a:t> e terminar às 2 da manhã ajustando slides para uma reunião com o CEO de uma multinacional. O volume de trabalho é alto porque o investimento em detalhes é o que garante a confiança do cliente.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Apesar da rotina puxada, o aprendizado é incomparável. Cada transação é uma aula prática de economia, finanças e estratégia corporativa. É comum que analistas e associados, após alguns anos, sejam convidados para posições de destaque em fundos de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equity</a:t>
            </a:r>
            <a:r>
              <a:rPr lang="pt-BR" dirty="0"/>
              <a:t>, venture capital ou grandes corporações. Isso acontece porque eles desenvolvem uma visão única sobre negócios, aprendendo a avaliar empresas sob a ótica de risco, retorno e valor estratégico.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A experiência de </a:t>
            </a:r>
            <a:r>
              <a:rPr lang="pt-BR" i="1" dirty="0"/>
              <a:t>live </a:t>
            </a:r>
            <a:r>
              <a:rPr lang="pt-BR" i="1" dirty="0" err="1"/>
              <a:t>deals</a:t>
            </a:r>
            <a:r>
              <a:rPr lang="pt-BR" dirty="0"/>
              <a:t>, ou seja, participar de transações que estão acontecendo em tempo real, é outro diferencial. Nesse ambiente, não há espaço para erros. As decisões precisam ser rápidas e precisas, porque o impacto financeiro pode ser bilionário.</a:t>
            </a:r>
          </a:p>
        </p:txBody>
      </p:sp>
    </p:spTree>
    <p:extLst>
      <p:ext uri="{BB962C8B-B14F-4D97-AF65-F5344CB8AC3E}">
        <p14:creationId xmlns:p14="http://schemas.microsoft.com/office/powerpoint/2010/main" val="1482997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7A63C-8212-10B8-9314-6FA3AC047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0BF262E2-84F6-32C1-F2E2-46A3F967EEB3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EED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D67C5F5-F154-150D-CC5B-D1F1C1A0BCB5}"/>
              </a:ext>
            </a:extLst>
          </p:cNvPr>
          <p:cNvSpPr txBox="1"/>
          <p:nvPr/>
        </p:nvSpPr>
        <p:spPr>
          <a:xfrm>
            <a:off x="317090" y="2841682"/>
            <a:ext cx="62238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pt-BR" sz="7200" b="1" dirty="0"/>
          </a:p>
          <a:p>
            <a:pPr algn="r"/>
            <a:r>
              <a:rPr lang="pt-BR" sz="7200" b="1" dirty="0"/>
              <a:t>TRANSFORM’AÇÃO</a:t>
            </a:r>
          </a:p>
          <a:p>
            <a:pPr algn="r"/>
            <a:r>
              <a:rPr lang="pt-BR" sz="7200" b="1" dirty="0"/>
              <a:t>REAL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031BF2C-57B9-EE24-8DC3-13D9B02E604D}"/>
              </a:ext>
            </a:extLst>
          </p:cNvPr>
          <p:cNvSpPr/>
          <p:nvPr/>
        </p:nvSpPr>
        <p:spPr>
          <a:xfrm>
            <a:off x="4085984" y="514425"/>
            <a:ext cx="2457724" cy="2646878"/>
          </a:xfrm>
          <a:prstGeom prst="rect">
            <a:avLst/>
          </a:prstGeom>
          <a:solidFill>
            <a:srgbClr val="1B4334"/>
          </a:solidFill>
          <a:ln>
            <a:solidFill>
              <a:srgbClr val="1B4334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6600" b="1" cap="none" spc="0" dirty="0">
                <a:ln w="10160">
                  <a:solidFill>
                    <a:srgbClr val="EED6B0"/>
                  </a:solidFill>
                  <a:prstDash val="solid"/>
                </a:ln>
                <a:solidFill>
                  <a:srgbClr val="EED6B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0544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2237B-DCBF-16C5-E297-38E4DC74B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E06FA157-3A28-131A-74B5-E16C22AEF950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EED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itulo">
            <a:extLst>
              <a:ext uri="{FF2B5EF4-FFF2-40B4-BE49-F238E27FC236}">
                <a16:creationId xmlns:a16="http://schemas.microsoft.com/office/drawing/2014/main" id="{4EC64913-B15E-0352-ECB3-2237B9F1D454}"/>
              </a:ext>
            </a:extLst>
          </p:cNvPr>
          <p:cNvSpPr txBox="1"/>
          <p:nvPr/>
        </p:nvSpPr>
        <p:spPr>
          <a:xfrm>
            <a:off x="563879" y="320040"/>
            <a:ext cx="5737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B4334"/>
                </a:solidFill>
              </a:rPr>
              <a:t>IMPACTO REAL: COMO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530676C1-32CF-7D9E-CAE5-9E375A98F6BA}"/>
              </a:ext>
            </a:extLst>
          </p:cNvPr>
          <p:cNvSpPr txBox="1"/>
          <p:nvPr/>
        </p:nvSpPr>
        <p:spPr>
          <a:xfrm>
            <a:off x="563879" y="844539"/>
            <a:ext cx="5737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1B4334"/>
                </a:solidFill>
              </a:rPr>
              <a:t>O I.B. Transforma Mercados</a:t>
            </a:r>
            <a:endParaRPr lang="pt-BR" sz="3200" b="1" dirty="0">
              <a:solidFill>
                <a:srgbClr val="1B4334"/>
              </a:solidFill>
              <a:ea typeface="Verdana" panose="020B060403050404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texto">
            <a:extLst>
              <a:ext uri="{FF2B5EF4-FFF2-40B4-BE49-F238E27FC236}">
                <a16:creationId xmlns:a16="http://schemas.microsoft.com/office/drawing/2014/main" id="{28B53832-763F-2415-4A38-253E1FCE59BF}"/>
              </a:ext>
            </a:extLst>
          </p:cNvPr>
          <p:cNvSpPr txBox="1"/>
          <p:nvPr/>
        </p:nvSpPr>
        <p:spPr>
          <a:xfrm>
            <a:off x="560070" y="1735812"/>
            <a:ext cx="5737859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	À primeira vista, as operações de </a:t>
            </a:r>
            <a:r>
              <a:rPr lang="pt-BR" dirty="0" err="1"/>
              <a:t>investment</a:t>
            </a:r>
            <a:r>
              <a:rPr lang="pt-BR" dirty="0"/>
              <a:t> banking parecem distantes do cotidiano das pessoas. Mas na prática, o impacto é direto.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Um IPO pode financiar a expansão de uma rede de hospitais, levando saúde para novas regiões. Uma emissão de dívida pode viabilizar a construção de estradas e portos que movimentam a economia. Uma fusão pode salvar uma empresa em dificuldades, preservando empregos e mantendo vivo um setor estratégico.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No Brasil, a trajetória da Vale é um exemplo marcante. Após sua privatização e subsequentes emissões de ações e dívidas, a empresa ganhou fôlego para expandir operações e consolidar-se como uma das maiores mineradoras do mundo. Essa expansão gerou desenvolvimento em regiões como Carajás, além de atrair bilhões de dólares em investimentos estrangeiros para o país.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Outro exemplo vem do setor de tecnologia. As captações de empresas como Mercado Livre e Nubank não só fortaleceram suas posições, mas também estimularam ecossistemas de inovação, incentivando startups e criando milhares de empregos indiretos.</a:t>
            </a:r>
          </a:p>
        </p:txBody>
      </p:sp>
    </p:spTree>
    <p:extLst>
      <p:ext uri="{BB962C8B-B14F-4D97-AF65-F5344CB8AC3E}">
        <p14:creationId xmlns:p14="http://schemas.microsoft.com/office/powerpoint/2010/main" val="3554260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DC37D-2759-107A-23E0-7CB76D79D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C044C14-066F-932D-286B-F9E9D0D63BF9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EED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7D99E19-1B12-BD5C-C527-3C2D08E2E749}"/>
              </a:ext>
            </a:extLst>
          </p:cNvPr>
          <p:cNvSpPr txBox="1"/>
          <p:nvPr/>
        </p:nvSpPr>
        <p:spPr>
          <a:xfrm>
            <a:off x="317090" y="2841682"/>
            <a:ext cx="62238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7200" b="1" dirty="0"/>
          </a:p>
          <a:p>
            <a:r>
              <a:rPr lang="pt-BR" sz="7200" b="1" dirty="0"/>
              <a:t>INSIDE</a:t>
            </a:r>
          </a:p>
          <a:p>
            <a:r>
              <a:rPr lang="pt-BR" sz="7200" b="1" dirty="0"/>
              <a:t>THE</a:t>
            </a:r>
          </a:p>
          <a:p>
            <a:r>
              <a:rPr lang="pt-BR" sz="7200" b="1" dirty="0"/>
              <a:t>DEAL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D79F5E3-75B6-AF5E-189A-8654C012F0F8}"/>
              </a:ext>
            </a:extLst>
          </p:cNvPr>
          <p:cNvSpPr/>
          <p:nvPr/>
        </p:nvSpPr>
        <p:spPr>
          <a:xfrm>
            <a:off x="317090" y="514425"/>
            <a:ext cx="2457724" cy="2646878"/>
          </a:xfrm>
          <a:prstGeom prst="rect">
            <a:avLst/>
          </a:prstGeom>
          <a:solidFill>
            <a:srgbClr val="1B4334"/>
          </a:solidFill>
          <a:ln>
            <a:solidFill>
              <a:srgbClr val="1B4334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6600" b="1" cap="none" spc="0" dirty="0">
                <a:ln w="10160">
                  <a:solidFill>
                    <a:srgbClr val="EED6B0"/>
                  </a:solidFill>
                  <a:prstDash val="solid"/>
                </a:ln>
                <a:solidFill>
                  <a:srgbClr val="EED6B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16840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91459-855A-6AAE-A1DB-E546A425B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4C4FC369-3885-3DE5-D999-30E048CD2D41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EED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itulo">
            <a:extLst>
              <a:ext uri="{FF2B5EF4-FFF2-40B4-BE49-F238E27FC236}">
                <a16:creationId xmlns:a16="http://schemas.microsoft.com/office/drawing/2014/main" id="{FAE8B1C4-A334-6AFF-1E2F-8570BB502510}"/>
              </a:ext>
            </a:extLst>
          </p:cNvPr>
          <p:cNvSpPr txBox="1"/>
          <p:nvPr/>
        </p:nvSpPr>
        <p:spPr>
          <a:xfrm>
            <a:off x="563879" y="320040"/>
            <a:ext cx="5737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B4334"/>
                </a:solidFill>
              </a:rPr>
              <a:t>INSIDE THE DEAL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A40B7B00-2E9F-B516-A234-3631C2EFD632}"/>
              </a:ext>
            </a:extLst>
          </p:cNvPr>
          <p:cNvSpPr txBox="1"/>
          <p:nvPr/>
        </p:nvSpPr>
        <p:spPr>
          <a:xfrm>
            <a:off x="563879" y="844539"/>
            <a:ext cx="5737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1B4334"/>
                </a:solidFill>
              </a:rPr>
              <a:t>...</a:t>
            </a:r>
            <a:endParaRPr lang="pt-BR" sz="3200" b="1" dirty="0">
              <a:solidFill>
                <a:srgbClr val="1B4334"/>
              </a:solidFill>
              <a:ea typeface="Verdana" panose="020B060403050404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texto">
            <a:extLst>
              <a:ext uri="{FF2B5EF4-FFF2-40B4-BE49-F238E27FC236}">
                <a16:creationId xmlns:a16="http://schemas.microsoft.com/office/drawing/2014/main" id="{0546D0D9-5189-5400-74D5-1E0A2CFCAE1D}"/>
              </a:ext>
            </a:extLst>
          </p:cNvPr>
          <p:cNvSpPr txBox="1"/>
          <p:nvPr/>
        </p:nvSpPr>
        <p:spPr>
          <a:xfrm>
            <a:off x="560071" y="2690843"/>
            <a:ext cx="57378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	Estar </a:t>
            </a:r>
            <a:r>
              <a:rPr lang="pt-BR" i="1" dirty="0" err="1"/>
              <a:t>inside</a:t>
            </a:r>
            <a:r>
              <a:rPr lang="pt-BR" i="1" dirty="0"/>
              <a:t> </a:t>
            </a:r>
            <a:r>
              <a:rPr lang="pt-BR" i="1" dirty="0" err="1"/>
              <a:t>the</a:t>
            </a:r>
            <a:r>
              <a:rPr lang="pt-BR" i="1" dirty="0"/>
              <a:t> </a:t>
            </a:r>
            <a:r>
              <a:rPr lang="pt-BR" i="1" dirty="0" err="1"/>
              <a:t>deal</a:t>
            </a:r>
            <a:r>
              <a:rPr lang="pt-BR" dirty="0"/>
              <a:t> é participar do coração do capitalismo moderno. É vivenciar de perto como decisões financeiras moldam empresas, setores e, em muitos casos, países inteiros.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O </a:t>
            </a:r>
            <a:r>
              <a:rPr lang="pt-BR" dirty="0" err="1"/>
              <a:t>investment</a:t>
            </a:r>
            <a:r>
              <a:rPr lang="pt-BR" dirty="0"/>
              <a:t> banking vai muito além de planilhas complexas e jargões sofisticados. Ele é sobre impacto real: transformar empresas, conectar investidores e gerar crescimento. Para quem está dentro, é uma carreira de muita intensidade, muito aprendizado e responsabilidade. Para quem está fora, é a engrenagem invisível que movimenta a economia global.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E talvez esse seja o maior fascínio: saber que, nos bastidores de cada grande decisão corporativa, existe uma equipe que planeja, negocia e viabiliza o futuro.</a:t>
            </a:r>
          </a:p>
        </p:txBody>
      </p:sp>
    </p:spTree>
    <p:extLst>
      <p:ext uri="{BB962C8B-B14F-4D97-AF65-F5344CB8AC3E}">
        <p14:creationId xmlns:p14="http://schemas.microsoft.com/office/powerpoint/2010/main" val="2955905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FD8A3-A0F0-212C-E8F2-5B31ADC9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2336548E-9173-29EB-7B69-D65CD738CD0B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EED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528A500-8A33-3841-B2B3-980D15BB3177}"/>
              </a:ext>
            </a:extLst>
          </p:cNvPr>
          <p:cNvSpPr txBox="1"/>
          <p:nvPr/>
        </p:nvSpPr>
        <p:spPr>
          <a:xfrm>
            <a:off x="317090" y="2841682"/>
            <a:ext cx="62238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pt-BR" sz="7200" b="1" dirty="0"/>
          </a:p>
          <a:p>
            <a:pPr algn="r"/>
            <a:r>
              <a:rPr lang="pt-BR" sz="7200" b="1" dirty="0"/>
              <a:t>THANK</a:t>
            </a:r>
          </a:p>
          <a:p>
            <a:pPr algn="r"/>
            <a:r>
              <a:rPr lang="pt-BR" sz="7200" b="1" dirty="0"/>
              <a:t>YOU !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DC112CD-7E85-B789-6303-2ED0A4D5EDF2}"/>
              </a:ext>
            </a:extLst>
          </p:cNvPr>
          <p:cNvSpPr/>
          <p:nvPr/>
        </p:nvSpPr>
        <p:spPr>
          <a:xfrm>
            <a:off x="4243076" y="514425"/>
            <a:ext cx="2143536" cy="2646878"/>
          </a:xfrm>
          <a:prstGeom prst="rect">
            <a:avLst/>
          </a:prstGeom>
          <a:solidFill>
            <a:srgbClr val="1B4334"/>
          </a:solidFill>
          <a:ln>
            <a:solidFill>
              <a:srgbClr val="1B4334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16600" b="1" dirty="0">
                <a:ln w="10160">
                  <a:solidFill>
                    <a:srgbClr val="EED6B0"/>
                  </a:solidFill>
                  <a:prstDash val="solid"/>
                </a:ln>
                <a:solidFill>
                  <a:srgbClr val="EED6B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_</a:t>
            </a:r>
            <a:r>
              <a:rPr lang="pt-BR" sz="16600" b="1" cap="none" spc="0" dirty="0">
                <a:ln w="10160">
                  <a:solidFill>
                    <a:srgbClr val="EED6B0"/>
                  </a:solidFill>
                  <a:prstDash val="solid"/>
                </a:ln>
                <a:solidFill>
                  <a:srgbClr val="EED6B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3528988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7200337-D486-27FB-E26E-E72877831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081367E-E7CC-B7F7-6E91-099E5C293AD5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EED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itulo">
            <a:extLst>
              <a:ext uri="{FF2B5EF4-FFF2-40B4-BE49-F238E27FC236}">
                <a16:creationId xmlns:a16="http://schemas.microsoft.com/office/drawing/2014/main" id="{D9923065-CBD0-8D80-4B73-69456C0D2197}"/>
              </a:ext>
            </a:extLst>
          </p:cNvPr>
          <p:cNvSpPr txBox="1"/>
          <p:nvPr/>
        </p:nvSpPr>
        <p:spPr>
          <a:xfrm>
            <a:off x="563879" y="320040"/>
            <a:ext cx="5737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B4334"/>
                </a:solidFill>
              </a:rPr>
              <a:t>TITULO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955C76D4-3F5D-63E8-0BB7-3977576988FD}"/>
              </a:ext>
            </a:extLst>
          </p:cNvPr>
          <p:cNvSpPr txBox="1"/>
          <p:nvPr/>
        </p:nvSpPr>
        <p:spPr>
          <a:xfrm>
            <a:off x="563879" y="1027926"/>
            <a:ext cx="5737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err="1">
                <a:solidFill>
                  <a:srgbClr val="1B4334"/>
                </a:solidFill>
                <a:ea typeface="Verdana" panose="020B0604030504040204" pitchFamily="34" charset="0"/>
                <a:cs typeface="Sans Serif Collection" panose="020B0502040504020204" pitchFamily="34" charset="0"/>
              </a:rPr>
              <a:t>subTITULO</a:t>
            </a:r>
            <a:r>
              <a:rPr lang="pt-BR" sz="3200" b="1" dirty="0">
                <a:solidFill>
                  <a:srgbClr val="1B4334"/>
                </a:solidFill>
                <a:ea typeface="Verdana" panose="020B0604030504040204" pitchFamily="34" charset="0"/>
                <a:cs typeface="Sans Serif Collection" panose="020B0502040504020204" pitchFamily="34" charset="0"/>
              </a:rPr>
              <a:t>’’</a:t>
            </a:r>
          </a:p>
        </p:txBody>
      </p:sp>
      <p:sp>
        <p:nvSpPr>
          <p:cNvPr id="4" name="texto">
            <a:extLst>
              <a:ext uri="{FF2B5EF4-FFF2-40B4-BE49-F238E27FC236}">
                <a16:creationId xmlns:a16="http://schemas.microsoft.com/office/drawing/2014/main" id="{D4BFD347-16A9-31D6-40C3-C2D828E84B91}"/>
              </a:ext>
            </a:extLst>
          </p:cNvPr>
          <p:cNvSpPr txBox="1"/>
          <p:nvPr/>
        </p:nvSpPr>
        <p:spPr>
          <a:xfrm>
            <a:off x="560070" y="1735812"/>
            <a:ext cx="5737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1B4334"/>
                </a:solidFill>
                <a:ea typeface="Verdana" panose="020B0604030504040204" pitchFamily="34" charset="0"/>
                <a:cs typeface="Sans Serif Collection" panose="020B0502040504020204" pitchFamily="34" charset="0"/>
              </a:rPr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3423790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17A44-3DDA-8A8D-35E8-9133D089F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011AE568-A531-8210-C0BF-6A5781ACF2ED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EED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itulo">
            <a:extLst>
              <a:ext uri="{FF2B5EF4-FFF2-40B4-BE49-F238E27FC236}">
                <a16:creationId xmlns:a16="http://schemas.microsoft.com/office/drawing/2014/main" id="{1E60BE90-FD66-1342-3DE0-9DD8D45D7A66}"/>
              </a:ext>
            </a:extLst>
          </p:cNvPr>
          <p:cNvSpPr txBox="1"/>
          <p:nvPr/>
        </p:nvSpPr>
        <p:spPr>
          <a:xfrm>
            <a:off x="563879" y="320040"/>
            <a:ext cx="5737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1B4334"/>
                </a:solidFill>
              </a:rPr>
              <a:t>AGRADECIMENTOS</a:t>
            </a:r>
          </a:p>
        </p:txBody>
      </p:sp>
      <p:sp>
        <p:nvSpPr>
          <p:cNvPr id="3" name="subtitulo">
            <a:extLst>
              <a:ext uri="{FF2B5EF4-FFF2-40B4-BE49-F238E27FC236}">
                <a16:creationId xmlns:a16="http://schemas.microsoft.com/office/drawing/2014/main" id="{DE511A63-8D8A-CC4A-2EA2-ACF57FAC1FD9}"/>
              </a:ext>
            </a:extLst>
          </p:cNvPr>
          <p:cNvSpPr txBox="1"/>
          <p:nvPr/>
        </p:nvSpPr>
        <p:spPr>
          <a:xfrm>
            <a:off x="563879" y="1027926"/>
            <a:ext cx="5737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1B4334"/>
                </a:solidFill>
                <a:ea typeface="Verdana" panose="020B0604030504040204" pitchFamily="34" charset="0"/>
                <a:cs typeface="Sans Serif Collection" panose="020B0502040504020204" pitchFamily="34" charset="0"/>
              </a:rPr>
              <a:t>...</a:t>
            </a:r>
          </a:p>
        </p:txBody>
      </p:sp>
      <p:sp>
        <p:nvSpPr>
          <p:cNvPr id="4" name="texto">
            <a:extLst>
              <a:ext uri="{FF2B5EF4-FFF2-40B4-BE49-F238E27FC236}">
                <a16:creationId xmlns:a16="http://schemas.microsoft.com/office/drawing/2014/main" id="{C9DC4DF6-1C65-F935-D928-1603B83B37E7}"/>
              </a:ext>
            </a:extLst>
          </p:cNvPr>
          <p:cNvSpPr txBox="1"/>
          <p:nvPr/>
        </p:nvSpPr>
        <p:spPr>
          <a:xfrm>
            <a:off x="560071" y="3106341"/>
            <a:ext cx="573785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1B4334"/>
                </a:solidFill>
                <a:ea typeface="Verdana" panose="020B0604030504040204" pitchFamily="34" charset="0"/>
                <a:cs typeface="Sans Serif Collection" panose="020B0502040504020204" pitchFamily="34" charset="0"/>
              </a:rPr>
              <a:t>Ebook elaborado durante participação no </a:t>
            </a:r>
            <a:r>
              <a:rPr lang="pt-BR" dirty="0" err="1">
                <a:solidFill>
                  <a:srgbClr val="1B4334"/>
                </a:solidFill>
                <a:ea typeface="Verdana" panose="020B0604030504040204" pitchFamily="34" charset="0"/>
                <a:cs typeface="Sans Serif Collection" panose="020B0502040504020204" pitchFamily="34" charset="0"/>
              </a:rPr>
              <a:t>bootcamp</a:t>
            </a:r>
            <a:r>
              <a:rPr lang="pt-BR" dirty="0">
                <a:solidFill>
                  <a:srgbClr val="1B4334"/>
                </a:solidFill>
                <a:ea typeface="Verdana" panose="020B0604030504040204" pitchFamily="34" charset="0"/>
                <a:cs typeface="Sans Serif Collection" panose="020B0502040504020204" pitchFamily="34" charset="0"/>
              </a:rPr>
              <a:t> “</a:t>
            </a:r>
            <a:r>
              <a:rPr lang="pt-BR" i="1" dirty="0">
                <a:solidFill>
                  <a:srgbClr val="1B4334"/>
                </a:solidFill>
                <a:ea typeface="Verdana" panose="020B0604030504040204" pitchFamily="34" charset="0"/>
                <a:cs typeface="Sans Serif Collection" panose="020B0502040504020204" pitchFamily="34" charset="0"/>
              </a:rPr>
              <a:t>Fundamentos da IA Generativa”</a:t>
            </a:r>
            <a:r>
              <a:rPr lang="pt-BR" dirty="0">
                <a:solidFill>
                  <a:srgbClr val="1B4334"/>
                </a:solidFill>
                <a:ea typeface="Verdana" panose="020B0604030504040204" pitchFamily="34" charset="0"/>
                <a:cs typeface="Sans Serif Collection" panose="020B0502040504020204" pitchFamily="34" charset="0"/>
              </a:rPr>
              <a:t> oferecido pelo banco Santander em conjunto com a Universia e a Digital </a:t>
            </a:r>
            <a:r>
              <a:rPr lang="pt-BR" dirty="0" err="1">
                <a:solidFill>
                  <a:srgbClr val="1B4334"/>
                </a:solidFill>
                <a:ea typeface="Verdana" panose="020B0604030504040204" pitchFamily="34" charset="0"/>
                <a:cs typeface="Sans Serif Collection" panose="020B0502040504020204" pitchFamily="34" charset="0"/>
              </a:rPr>
              <a:t>Innovation</a:t>
            </a:r>
            <a:r>
              <a:rPr lang="pt-BR" dirty="0">
                <a:solidFill>
                  <a:srgbClr val="1B4334"/>
                </a:solidFill>
                <a:ea typeface="Verdana" panose="020B0604030504040204" pitchFamily="34" charset="0"/>
                <a:cs typeface="Sans Serif Collection" panose="020B0502040504020204" pitchFamily="34" charset="0"/>
              </a:rPr>
              <a:t> </a:t>
            </a:r>
            <a:r>
              <a:rPr lang="pt-BR" dirty="0" err="1">
                <a:solidFill>
                  <a:srgbClr val="1B4334"/>
                </a:solidFill>
                <a:ea typeface="Verdana" panose="020B0604030504040204" pitchFamily="34" charset="0"/>
                <a:cs typeface="Sans Serif Collection" panose="020B0502040504020204" pitchFamily="34" charset="0"/>
              </a:rPr>
              <a:t>One</a:t>
            </a:r>
            <a:r>
              <a:rPr lang="pt-BR" dirty="0">
                <a:solidFill>
                  <a:srgbClr val="1B4334"/>
                </a:solidFill>
                <a:ea typeface="Verdana" panose="020B0604030504040204" pitchFamily="34" charset="0"/>
                <a:cs typeface="Sans Serif Collection" panose="020B0502040504020204" pitchFamily="34" charset="0"/>
              </a:rPr>
              <a:t> (DIO).</a:t>
            </a:r>
          </a:p>
          <a:p>
            <a:endParaRPr lang="pt-BR" dirty="0">
              <a:solidFill>
                <a:srgbClr val="1B4334"/>
              </a:solidFill>
              <a:ea typeface="Verdana" panose="020B0604030504040204" pitchFamily="34" charset="0"/>
              <a:cs typeface="Sans Serif Collection" panose="020B0502040504020204" pitchFamily="34" charset="0"/>
            </a:endParaRPr>
          </a:p>
          <a:p>
            <a:r>
              <a:rPr lang="pt-BR" dirty="0">
                <a:solidFill>
                  <a:srgbClr val="1B4334"/>
                </a:solidFill>
                <a:ea typeface="Verdana" panose="020B0604030504040204" pitchFamily="34" charset="0"/>
                <a:cs typeface="Sans Serif Collection" panose="020B0502040504020204" pitchFamily="34" charset="0"/>
              </a:rPr>
              <a:t>O ebook, inclusive textos e imagens, foi elaborado utilizando ajuda de ferramentas de inteligência artificial e generativas, além de adaptações pessoais e manuais.</a:t>
            </a:r>
          </a:p>
          <a:p>
            <a:endParaRPr lang="pt-BR" dirty="0">
              <a:solidFill>
                <a:srgbClr val="1B4334"/>
              </a:solidFill>
              <a:ea typeface="Verdana" panose="020B0604030504040204" pitchFamily="34" charset="0"/>
              <a:cs typeface="Sans Serif Collection" panose="020B0502040504020204" pitchFamily="34" charset="0"/>
            </a:endParaRPr>
          </a:p>
          <a:p>
            <a:r>
              <a:rPr lang="pt-BR" dirty="0">
                <a:solidFill>
                  <a:srgbClr val="1B4334"/>
                </a:solidFill>
                <a:ea typeface="Verdana" panose="020B0604030504040204" pitchFamily="34" charset="0"/>
                <a:cs typeface="Sans Serif Collection" panose="020B0502040504020204" pitchFamily="34" charset="0"/>
              </a:rPr>
              <a:t>Autor: Paulo Silva</a:t>
            </a:r>
          </a:p>
          <a:p>
            <a:endParaRPr lang="pt-BR" dirty="0">
              <a:solidFill>
                <a:srgbClr val="1B4334"/>
              </a:solidFill>
              <a:ea typeface="Verdana" panose="020B0604030504040204" pitchFamily="34" charset="0"/>
              <a:cs typeface="Sans Serif Collection" panose="020B0502040504020204" pitchFamily="34" charset="0"/>
            </a:endParaRPr>
          </a:p>
          <a:p>
            <a:r>
              <a:rPr lang="pt-BR" dirty="0">
                <a:solidFill>
                  <a:srgbClr val="1B4334"/>
                </a:solidFill>
                <a:ea typeface="Verdana" panose="020B0604030504040204" pitchFamily="34" charset="0"/>
                <a:cs typeface="Sans Serif Collection" panose="020B0502040504020204" pitchFamily="34" charset="0"/>
                <a:hlinkClick r:id="rId2"/>
              </a:rPr>
              <a:t>Github: https://github.com/MrPauloJ/</a:t>
            </a:r>
            <a:endParaRPr lang="pt-BR" dirty="0">
              <a:solidFill>
                <a:srgbClr val="1B4334"/>
              </a:solidFill>
              <a:ea typeface="Verdana" panose="020B0604030504040204" pitchFamily="34" charset="0"/>
              <a:cs typeface="Sans Serif Collection" panose="020B0502040504020204" pitchFamily="34" charset="0"/>
            </a:endParaRPr>
          </a:p>
          <a:p>
            <a:endParaRPr lang="pt-BR" dirty="0">
              <a:solidFill>
                <a:srgbClr val="1B4334"/>
              </a:solidFill>
              <a:ea typeface="Verdana" panose="020B0604030504040204" pitchFamily="34" charset="0"/>
              <a:cs typeface="Sans Serif Collection" panose="020B0502040504020204" pitchFamily="34" charset="0"/>
            </a:endParaRPr>
          </a:p>
          <a:p>
            <a:endParaRPr lang="pt-BR" dirty="0">
              <a:solidFill>
                <a:srgbClr val="1B4334"/>
              </a:solidFill>
              <a:ea typeface="Verdana" panose="020B060403050404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8619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301</TotalTime>
  <Words>1350</Words>
  <Application>Microsoft Office PowerPoint</Application>
  <PresentationFormat>Papel A4 (210 x 297 mm)</PresentationFormat>
  <Paragraphs>90</Paragraphs>
  <Slides>16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Verdana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</dc:creator>
  <cp:lastModifiedBy>Paulo</cp:lastModifiedBy>
  <cp:revision>16</cp:revision>
  <dcterms:created xsi:type="dcterms:W3CDTF">2025-09-29T12:28:48Z</dcterms:created>
  <dcterms:modified xsi:type="dcterms:W3CDTF">2025-09-29T18:58:44Z</dcterms:modified>
</cp:coreProperties>
</file>